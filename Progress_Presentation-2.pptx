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cons/satellite_white.png">    </p:cNvPr>
          <p:cNvPicPr>
            <a:picLocks noChangeAspect="1"/>
          </p:cNvPicPr>
          <p:nvPr/>
        </p:nvPicPr>
        <p:blipFill>
          <a:blip r:embed="rId1">
            <a:alphaModFix amt="85000"/>
          </a:blip>
          <a:stretch>
            <a:fillRect/>
          </a:stretch>
        </p:blipFill>
        <p:spPr>
          <a:xfrm>
            <a:off x="640080" y="64008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194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PROGRESS PRESENTATION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640080" y="2606040"/>
            <a:ext cx="106070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Energy-Harvesting-Aware Digital Twins for</a:t>
            </a:r>
            <a:endParaRPr lang="en-US" sz="3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Sustainable Task Offloading in SAGIN-Assisted</a:t>
            </a:r>
            <a:endParaRPr lang="en-US" sz="3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Vehicular Edge Computing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640080" y="4617720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Extending Prof. [Professor Name]'s Digital Twin-Assisted SAGIN-VEC Framework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40080" y="5257800"/>
            <a:ext cx="1463040" cy="36576"/>
          </a:xfrm>
          <a:prstGeom prst="rect">
            <a:avLst/>
          </a:prstGeom>
          <a:solidFill>
            <a:srgbClr val="F2B84B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54406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Avinash  |  M.S. Computer Science, Wireless Communications Research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Yuan Ze University, Taiwan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0080" y="6172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Prof. [Professor Name]        Date: [Presentation Date]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Foundation of My Research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work builds directly on my professor's own published framework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37360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“Digital Twin-assisted Space-Air-Ground Integrated Networks for Vehicular Edge Computing”
</a:t>
            </a:r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[Professor Name], et al.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3108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framework's core contributions: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56616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8" name="Image 0" descr="icons/car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3675888"/>
            <a:ext cx="237744" cy="2377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88720" y="352044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partial task-offloading model — vehicles intelligently split work between on-board and network computing.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48640" y="4224528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1" name="Image 1" descr="icons/tower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4334256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88720" y="4178808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3-layer SAGIN architecture — Base Stations, UAVs, and Satellites working together seamlessly.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548640" y="4882896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4" name="Image 2" descr="icons/sync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4992624"/>
            <a:ext cx="237744" cy="23774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88720" y="4837176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pioneering Digital Twin design — giving every device a live virtual counterpart for smarter, faster decisions.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548640" y="5541264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7" name="Image 3" descr="icons/chart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5650992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188720" y="5495544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novel multi-agent deep reinforcement learning solution — coordinating decisions to minimize task offloading latency.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Direction Matters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20440" cy="2743200"/>
          </a:xfrm>
          <a:prstGeom prst="roundRect">
            <a:avLst>
              <a:gd name="adj" fmla="val 3000"/>
            </a:avLst>
          </a:prstGeom>
          <a:solidFill>
            <a:srgbClr val="F7F9FC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76200" dist="38100" dir="5400000">
              <a:srgbClr val="9AA5B5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6459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icons/bol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1801368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246888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6G &amp; URLLC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77240" y="2971800"/>
            <a:ext cx="30632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networks need ultra-low delay (a few milliseconds) for self-driving and safety tasks.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343400" y="1371600"/>
            <a:ext cx="3520440" cy="2743200"/>
          </a:xfrm>
          <a:prstGeom prst="roundRect">
            <a:avLst>
              <a:gd name="adj" fmla="val 3000"/>
            </a:avLst>
          </a:prstGeom>
          <a:solidFill>
            <a:srgbClr val="F7F9FC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76200" dist="38100" dir="5400000">
              <a:srgbClr val="9AA5B5">
                <a:alpha val="2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72000" y="16459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1" descr="icons/car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7448" y="1801368"/>
            <a:ext cx="329184" cy="32918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72000" y="246888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Connected Vehicles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4572000" y="2971800"/>
            <a:ext cx="30632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Cars generate huge sensor data every second — too much to process only on-board.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8138160" y="1371600"/>
            <a:ext cx="3520440" cy="2743200"/>
          </a:xfrm>
          <a:prstGeom prst="roundRect">
            <a:avLst>
              <a:gd name="adj" fmla="val 3000"/>
            </a:avLst>
          </a:prstGeom>
          <a:solidFill>
            <a:srgbClr val="F7F9FC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76200" dist="38100" dir="5400000">
              <a:srgbClr val="9AA5B5">
                <a:alpha val="2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366760" y="16459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5" name="Image 2" descr="icons/satellit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2208" y="1801368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366760" y="246888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SAGIN Coverage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8366760" y="2971800"/>
            <a:ext cx="30632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ground, air, and space networks gives coverage even where towers can't reach.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548640" y="44348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makes the SAGIN + Digital Twin direction one of the most promising paths toward practical 6G vehicular networks.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 Am Currently Adding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141B47"/>
          </a:solidFill>
          <a:ln w="19050">
            <a:solidFill>
              <a:srgbClr val="F2B8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234440"/>
            <a:ext cx="10515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focus: 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extending this framework with an energy-sustainability layer, so the network can keep running indefinitely under real-world operating conditions.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502920" cy="502920"/>
          </a:xfrm>
          <a:prstGeom prst="ellipse">
            <a:avLst/>
          </a:prstGeom>
          <a:solidFill>
            <a:srgbClr val="2A3577"/>
          </a:solidFill>
          <a:ln/>
        </p:spPr>
      </p:sp>
      <p:pic>
        <p:nvPicPr>
          <p:cNvPr id="6" name="Image 0" descr="icons/sola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2638044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2487168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energy harvesting   —   </a:t>
            </a:r>
            <a:pPr indent="0" marL="0">
              <a:buNone/>
            </a:pPr>
            <a:r>
              <a:rPr lang="en-US" sz="1350" dirty="0">
                <a:solidFill>
                  <a:srgbClr val="C9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am modeling how UAVs and satellites recharge from sunlight, so they can sustain long-term operation.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48640" y="3172968"/>
            <a:ext cx="502920" cy="502920"/>
          </a:xfrm>
          <a:prstGeom prst="ellipse">
            <a:avLst/>
          </a:prstGeom>
          <a:solidFill>
            <a:srgbClr val="2A3577"/>
          </a:solidFill>
          <a:ln/>
        </p:spPr>
      </p:sp>
      <p:pic>
        <p:nvPicPr>
          <p:cNvPr id="9" name="Image 1" descr="icons/battery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3296412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34440" y="3145536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stateful battery model   —   </a:t>
            </a:r>
            <a:pPr indent="0" marL="0">
              <a:buNone/>
            </a:pPr>
            <a:r>
              <a:rPr lang="en-US" sz="1350" dirty="0">
                <a:solidFill>
                  <a:srgbClr val="C9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am incorporating a dynamic, evolving battery state that tracks charge and discharge over time.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548640" y="3831336"/>
            <a:ext cx="502920" cy="502920"/>
          </a:xfrm>
          <a:prstGeom prst="ellipse">
            <a:avLst/>
          </a:prstGeom>
          <a:solidFill>
            <a:srgbClr val="2A3577"/>
          </a:solidFill>
          <a:ln/>
        </p:spPr>
      </p:sp>
      <p:pic>
        <p:nvPicPr>
          <p:cNvPr id="12" name="Image 2" descr="icons/sync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3954780"/>
            <a:ext cx="256032" cy="25603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34440" y="3803904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Digital Twin behavior   —   </a:t>
            </a:r>
            <a:pPr indent="0" marL="0">
              <a:buNone/>
            </a:pPr>
            <a:r>
              <a:rPr lang="en-US" sz="1350" dirty="0">
                <a:solidFill>
                  <a:srgbClr val="C9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am adding periodic synchronization and natural reporting variation to the twin's knowledge.</a:t>
            </a:r>
            <a:endParaRPr lang="en-US" sz="1350" dirty="0"/>
          </a:p>
        </p:txBody>
      </p:sp>
      <p:sp>
        <p:nvSpPr>
          <p:cNvPr id="14" name="Shape 9"/>
          <p:cNvSpPr/>
          <p:nvPr/>
        </p:nvSpPr>
        <p:spPr>
          <a:xfrm>
            <a:off x="548640" y="4489704"/>
            <a:ext cx="502920" cy="502920"/>
          </a:xfrm>
          <a:prstGeom prst="ellipse">
            <a:avLst/>
          </a:prstGeom>
          <a:solidFill>
            <a:srgbClr val="2A3577"/>
          </a:solidFill>
          <a:ln/>
        </p:spPr>
      </p:sp>
      <p:pic>
        <p:nvPicPr>
          <p:cNvPr id="15" name="Image 3" descr="icons/wifi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" y="4613148"/>
            <a:ext cx="256032" cy="25603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234440" y="4462272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network conditions   —   </a:t>
            </a:r>
            <a:pPr indent="0" marL="0">
              <a:buNone/>
            </a:pPr>
            <a:r>
              <a:rPr lang="en-US" sz="1350" dirty="0">
                <a:solidFill>
                  <a:srgbClr val="C9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am incorporating wireless signal variation and multi-vehicle network sharing into the model.</a:t>
            </a:r>
            <a:endParaRPr lang="en-US" sz="1350" dirty="0"/>
          </a:p>
        </p:txBody>
      </p:sp>
      <p:sp>
        <p:nvSpPr>
          <p:cNvPr id="17" name="Text 11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Model — How It Works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85800" y="1417320"/>
            <a:ext cx="2331720" cy="1828800"/>
          </a:xfrm>
          <a:prstGeom prst="roundRect">
            <a:avLst>
              <a:gd name="adj" fmla="val 4500"/>
            </a:avLst>
          </a:prstGeom>
          <a:solidFill>
            <a:srgbClr val="1E2761"/>
          </a:solidFill>
          <a:ln/>
        </p:spPr>
      </p:sp>
      <p:sp>
        <p:nvSpPr>
          <p:cNvPr id="4" name="Shape 2"/>
          <p:cNvSpPr/>
          <p:nvPr/>
        </p:nvSpPr>
        <p:spPr>
          <a:xfrm>
            <a:off x="1559052" y="1645920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icons/car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5356" y="1792224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233172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77240" y="265176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task, does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local compute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090672" y="2130552"/>
            <a:ext cx="356616" cy="402336"/>
          </a:xfrm>
          <a:prstGeom prst="rightArrow">
            <a:avLst/>
          </a:prstGeom>
          <a:solidFill>
            <a:srgbClr val="F2B84B"/>
          </a:solidFill>
          <a:ln/>
        </p:spPr>
      </p:sp>
      <p:sp>
        <p:nvSpPr>
          <p:cNvPr id="9" name="Shape 6"/>
          <p:cNvSpPr/>
          <p:nvPr/>
        </p:nvSpPr>
        <p:spPr>
          <a:xfrm>
            <a:off x="3520440" y="1417320"/>
            <a:ext cx="2331720" cy="1828800"/>
          </a:xfrm>
          <a:prstGeom prst="roundRect">
            <a:avLst>
              <a:gd name="adj" fmla="val 4500"/>
            </a:avLst>
          </a:prstGeom>
          <a:solidFill>
            <a:srgbClr val="2C3780"/>
          </a:solidFill>
          <a:ln/>
        </p:spPr>
      </p:sp>
      <p:sp>
        <p:nvSpPr>
          <p:cNvPr id="10" name="Shape 7"/>
          <p:cNvSpPr/>
          <p:nvPr/>
        </p:nvSpPr>
        <p:spPr>
          <a:xfrm>
            <a:off x="4393692" y="1645920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icons/tower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9996" y="1792224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11880" y="233172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Station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611880" y="265176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compute;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by all vehicles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5925312" y="2130552"/>
            <a:ext cx="356616" cy="402336"/>
          </a:xfrm>
          <a:prstGeom prst="rightArrow">
            <a:avLst/>
          </a:prstGeom>
          <a:solidFill>
            <a:srgbClr val="F2B84B"/>
          </a:solidFill>
          <a:ln/>
        </p:spPr>
      </p:sp>
      <p:sp>
        <p:nvSpPr>
          <p:cNvPr id="15" name="Shape 11"/>
          <p:cNvSpPr/>
          <p:nvPr/>
        </p:nvSpPr>
        <p:spPr>
          <a:xfrm>
            <a:off x="6355080" y="1417320"/>
            <a:ext cx="2331720" cy="1828800"/>
          </a:xfrm>
          <a:prstGeom prst="roundRect">
            <a:avLst>
              <a:gd name="adj" fmla="val 4500"/>
            </a:avLst>
          </a:prstGeom>
          <a:solidFill>
            <a:srgbClr val="1E2761"/>
          </a:solidFill>
          <a:ln/>
        </p:spPr>
      </p:sp>
      <p:sp>
        <p:nvSpPr>
          <p:cNvPr id="16" name="Shape 12"/>
          <p:cNvSpPr/>
          <p:nvPr/>
        </p:nvSpPr>
        <p:spPr>
          <a:xfrm>
            <a:off x="7228332" y="1645920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2" descr="icons/drone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4636" y="1792224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46520" y="233172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UAV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46520" y="265176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Relays data toward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layer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8759952" y="2130552"/>
            <a:ext cx="356616" cy="402336"/>
          </a:xfrm>
          <a:prstGeom prst="rightArrow">
            <a:avLst/>
          </a:prstGeom>
          <a:solidFill>
            <a:srgbClr val="F2B84B"/>
          </a:solidFill>
          <a:ln/>
        </p:spPr>
      </p:sp>
      <p:sp>
        <p:nvSpPr>
          <p:cNvPr id="21" name="Shape 16"/>
          <p:cNvSpPr/>
          <p:nvPr/>
        </p:nvSpPr>
        <p:spPr>
          <a:xfrm>
            <a:off x="9189720" y="1417320"/>
            <a:ext cx="2331720" cy="1828800"/>
          </a:xfrm>
          <a:prstGeom prst="roundRect">
            <a:avLst>
              <a:gd name="adj" fmla="val 4500"/>
            </a:avLst>
          </a:prstGeom>
          <a:solidFill>
            <a:srgbClr val="2C3780"/>
          </a:solidFill>
          <a:ln/>
        </p:spPr>
      </p:sp>
      <p:sp>
        <p:nvSpPr>
          <p:cNvPr id="22" name="Shape 17"/>
          <p:cNvSpPr/>
          <p:nvPr/>
        </p:nvSpPr>
        <p:spPr>
          <a:xfrm>
            <a:off x="10062972" y="1645920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3" name="Image 3" descr="icons/satellite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9276" y="1792224"/>
            <a:ext cx="292608" cy="29260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281160" y="233172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9281160" y="265176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compute;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solar-powered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685800" y="352044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AI policy (trained with reinforcement learning) decides, every second, how much of each vehicle's task goes to each layer above.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548640" y="4160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being implemented and tested in Python:</a:t>
            </a:r>
            <a:endParaRPr lang="en-US" sz="1400" dirty="0"/>
          </a:p>
        </p:txBody>
      </p:sp>
      <p:sp>
        <p:nvSpPr>
          <p:cNvPr id="28" name="Shape 22"/>
          <p:cNvSpPr/>
          <p:nvPr/>
        </p:nvSpPr>
        <p:spPr>
          <a:xfrm>
            <a:off x="548640" y="4617720"/>
            <a:ext cx="3520440" cy="868680"/>
          </a:xfrm>
          <a:prstGeom prst="roundRect">
            <a:avLst>
              <a:gd name="adj" fmla="val 7368"/>
            </a:avLst>
          </a:prstGeom>
          <a:solidFill>
            <a:srgbClr val="F7F9FC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685800" y="4617720"/>
            <a:ext cx="3246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physics simulation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(channel, energy, mobility)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4343400" y="4617720"/>
            <a:ext cx="3520440" cy="868680"/>
          </a:xfrm>
          <a:prstGeom prst="roundRect">
            <a:avLst>
              <a:gd name="adj" fmla="val 7368"/>
            </a:avLst>
          </a:prstGeom>
          <a:solidFill>
            <a:srgbClr val="F7F9FC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4480560" y="4617720"/>
            <a:ext cx="3246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reinforcement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(policy-gradient)</a:t>
            </a:r>
            <a:endParaRPr lang="en-US" sz="1200" dirty="0"/>
          </a:p>
        </p:txBody>
      </p:sp>
      <p:sp>
        <p:nvSpPr>
          <p:cNvPr id="32" name="Shape 26"/>
          <p:cNvSpPr/>
          <p:nvPr/>
        </p:nvSpPr>
        <p:spPr>
          <a:xfrm>
            <a:off x="8138160" y="4617720"/>
            <a:ext cx="3520440" cy="868680"/>
          </a:xfrm>
          <a:prstGeom prst="roundRect">
            <a:avLst>
              <a:gd name="adj" fmla="val 7368"/>
            </a:avLst>
          </a:prstGeom>
          <a:solidFill>
            <a:srgbClr val="F7F9FC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8275320" y="4617720"/>
            <a:ext cx="3246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testing +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validation</a:t>
            </a:r>
            <a:endParaRPr lang="en-US" sz="1200" dirty="0"/>
          </a:p>
        </p:txBody>
      </p:sp>
      <p:sp>
        <p:nvSpPr>
          <p:cNvPr id="34" name="Text 28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Enhancements In Progress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realistic modeling layers currently being built on top of the base framework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141B47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65960"/>
            <a:ext cx="594360" cy="594360"/>
          </a:xfrm>
          <a:prstGeom prst="ellipse">
            <a:avLst/>
          </a:prstGeom>
          <a:solidFill>
            <a:srgbClr val="F2B84B"/>
          </a:solidFill>
          <a:ln/>
        </p:spPr>
      </p:sp>
      <p:pic>
        <p:nvPicPr>
          <p:cNvPr id="6" name="Image 0" descr="icons/wifi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3836" y="2116836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965960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Signal Fading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2651760"/>
            <a:ext cx="4800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9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Incorporating natural radio signal variation (Rayleigh/Rician fading), matching real wireless channel behavior.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63640" y="169164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141B47"/>
          </a:solidFill>
          <a:ln/>
        </p:spPr>
      </p:sp>
      <p:sp>
        <p:nvSpPr>
          <p:cNvPr id="10" name="Shape 7"/>
          <p:cNvSpPr/>
          <p:nvPr/>
        </p:nvSpPr>
        <p:spPr>
          <a:xfrm>
            <a:off x="6537960" y="1965960"/>
            <a:ext cx="594360" cy="594360"/>
          </a:xfrm>
          <a:prstGeom prst="ellipse">
            <a:avLst/>
          </a:prstGeom>
          <a:solidFill>
            <a:srgbClr val="F2B84B"/>
          </a:solidFill>
          <a:ln/>
        </p:spPr>
      </p:sp>
      <p:pic>
        <p:nvPicPr>
          <p:cNvPr id="11" name="Image 1" descr="icons/sync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8836" y="2116836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69480" y="1965960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 Synchronization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537960" y="2651760"/>
            <a:ext cx="4800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9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periodic update cycles and small reporting variation to the twin's battery and speed readings.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397764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141B47"/>
          </a:solidFill>
          <a:ln/>
        </p:spPr>
      </p:sp>
      <p:sp>
        <p:nvSpPr>
          <p:cNvPr id="15" name="Shape 11"/>
          <p:cNvSpPr/>
          <p:nvPr/>
        </p:nvSpPr>
        <p:spPr>
          <a:xfrm>
            <a:off x="822960" y="4251960"/>
            <a:ext cx="594360" cy="594360"/>
          </a:xfrm>
          <a:prstGeom prst="ellipse">
            <a:avLst/>
          </a:prstGeom>
          <a:solidFill>
            <a:srgbClr val="F2B84B"/>
          </a:solidFill>
          <a:ln/>
        </p:spPr>
      </p:sp>
      <p:pic>
        <p:nvPicPr>
          <p:cNvPr id="16" name="Image 2" descr="icons/users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836" y="4402836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4251960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Multi-user Network Sharing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22960" y="4937760"/>
            <a:ext cx="4800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9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how bandwidth and compute power are shared as more vehicles connect at once.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263640" y="397764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141B47"/>
          </a:solidFill>
          <a:ln/>
        </p:spPr>
      </p:sp>
      <p:sp>
        <p:nvSpPr>
          <p:cNvPr id="20" name="Shape 15"/>
          <p:cNvSpPr/>
          <p:nvPr/>
        </p:nvSpPr>
        <p:spPr>
          <a:xfrm>
            <a:off x="6537960" y="4251960"/>
            <a:ext cx="594360" cy="594360"/>
          </a:xfrm>
          <a:prstGeom prst="ellipse">
            <a:avLst/>
          </a:prstGeom>
          <a:solidFill>
            <a:srgbClr val="F2B84B"/>
          </a:solidFill>
          <a:ln/>
        </p:spPr>
      </p:sp>
      <p:pic>
        <p:nvPicPr>
          <p:cNvPr id="21" name="Image 3" descr="icons/cloud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8836" y="4402836"/>
            <a:ext cx="292608" cy="2926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69480" y="4251960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Weather-Aware Harvesting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6537960" y="4937760"/>
            <a:ext cx="4800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9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Incorporating cloud cover and satellite orbit position into the solar charging model.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Status &amp; Next Steps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things stand today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 NOW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128016" cy="12801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92024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extended simulation framework in Python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971800"/>
            <a:ext cx="128016" cy="12801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78892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Implementing solar harvesting and Digital Twin synchronization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840480"/>
            <a:ext cx="128016" cy="12801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65760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automated tests to validate each new component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309360" y="16002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UP NEXT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09360" y="2103120"/>
            <a:ext cx="128016" cy="128016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13" name="Text 11"/>
          <p:cNvSpPr/>
          <p:nvPr/>
        </p:nvSpPr>
        <p:spPr>
          <a:xfrm>
            <a:off x="6675120" y="192024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full-scale experiments across multiple scenarios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09360" y="2971800"/>
            <a:ext cx="128016" cy="128016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15" name="Text 13"/>
          <p:cNvSpPr/>
          <p:nvPr/>
        </p:nvSpPr>
        <p:spPr>
          <a:xfrm>
            <a:off x="6675120" y="278892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Statistically validating findings across multiple trial runs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309360" y="3840480"/>
            <a:ext cx="128016" cy="128016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17" name="Text 15"/>
          <p:cNvSpPr/>
          <p:nvPr/>
        </p:nvSpPr>
        <p:spPr>
          <a:xfrm>
            <a:off x="6675120" y="365760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Preparing the complete study for write-up and submission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480060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4800600"/>
            <a:ext cx="10515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a fully validated, realistic extension of my professor's SAGIN-VEC framework — ready for complete evaluation and academic write-up.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2026-07-28T05:40:54Z</dcterms:created>
  <dcterms:modified xsi:type="dcterms:W3CDTF">2026-07-28T05:40:54Z</dcterms:modified>
</cp:coreProperties>
</file>